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D2D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D2D2D"/>
                </a:solidFill>
                <a:latin typeface="Calibri"/>
              </a:rPr>
              <a:t>Orders by hour of day (all 24 months)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197</c:v>
                </c:pt>
                <c:pt idx="1">
                  <c:v>186</c:v>
                </c:pt>
                <c:pt idx="2">
                  <c:v>159</c:v>
                </c:pt>
                <c:pt idx="3">
                  <c:v>192</c:v>
                </c:pt>
                <c:pt idx="4">
                  <c:v>175</c:v>
                </c:pt>
                <c:pt idx="5">
                  <c:v>188</c:v>
                </c:pt>
                <c:pt idx="6">
                  <c:v>369</c:v>
                </c:pt>
                <c:pt idx="7">
                  <c:v>541</c:v>
                </c:pt>
                <c:pt idx="8">
                  <c:v>765</c:v>
                </c:pt>
                <c:pt idx="9">
                  <c:v>864</c:v>
                </c:pt>
                <c:pt idx="10">
                  <c:v>1083</c:v>
                </c:pt>
                <c:pt idx="11">
                  <c:v>1432</c:v>
                </c:pt>
                <c:pt idx="12">
                  <c:v>1749</c:v>
                </c:pt>
                <c:pt idx="13">
                  <c:v>1663</c:v>
                </c:pt>
                <c:pt idx="14">
                  <c:v>1096</c:v>
                </c:pt>
                <c:pt idx="15">
                  <c:v>922</c:v>
                </c:pt>
                <c:pt idx="16">
                  <c:v>900</c:v>
                </c:pt>
                <c:pt idx="17">
                  <c:v>1060</c:v>
                </c:pt>
                <c:pt idx="18">
                  <c:v>1474</c:v>
                </c:pt>
                <c:pt idx="19">
                  <c:v>1797</c:v>
                </c:pt>
                <c:pt idx="20">
                  <c:v>1632</c:v>
                </c:pt>
                <c:pt idx="21">
                  <c:v>1113</c:v>
                </c:pt>
                <c:pt idx="22">
                  <c:v>550</c:v>
                </c:pt>
                <c:pt idx="23">
                  <c:v>368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2D2D2D"/>
                    </a:solidFill>
                    <a:latin typeface="Arial"/>
                  </a:rPr>
                  <a:t>Hour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2D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2D2D2D"/>
                    </a:solidFill>
                    <a:latin typeface="Arial"/>
                  </a:rPr>
                  <a:t>Orders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2D2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D2D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D2D2D"/>
                </a:solidFill>
                <a:latin typeface="Calibri"/>
              </a:rPr>
              <a:t>Order status share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2D2D"/>
              </a:solidFill>
              <a:effectLst/>
            </c:spPr>
          </c:dPt>
          <c:dPt>
            <c:idx val="1"/>
            <c:bubble3D val="0"/>
            <c:spPr>
              <a:solidFill>
                <a:srgbClr val="F4A6AD"/>
              </a:solidFill>
              <a:effectLst/>
            </c:spPr>
          </c:dPt>
          <c:dPt>
            <c:idx val="2"/>
            <c:bubble3D val="0"/>
            <c:spPr>
              <a:solidFill>
                <a:srgbClr val="E23744"/>
              </a:solidFill>
              <a:effectLst/>
            </c:spPr>
          </c:dPt>
          <c:dPt>
            <c:idx val="3"/>
            <c:bubble3D val="0"/>
            <c:spPr>
              <a:solidFill>
                <a:srgbClr val="9C9C9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Delivered</c:v>
                </c:pt>
                <c:pt idx="1">
                  <c:v>Delivered Late</c:v>
                </c:pt>
                <c:pt idx="2">
                  <c:v>Cancelled</c:v>
                </c:pt>
                <c:pt idx="3">
                  <c:v>Food Not Delivered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11390</c:v>
                </c:pt>
                <c:pt idx="1">
                  <c:v>2154</c:v>
                </c:pt>
                <c:pt idx="2">
                  <c:v>4569</c:v>
                </c:pt>
                <c:pt idx="3">
                  <c:v>2362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2D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D2D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D2D2D"/>
                </a:solidFill>
                <a:latin typeface="Calibri"/>
              </a:rPr>
              <a:t>Test-set R² (higher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Baseline mean</c:v>
                  </c:pt>
                  <c:pt idx="1">
                    <c:v>Linear Regression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Gradient Boosting</c:v>
                  </c:pt>
                  <c:pt idx="5">
                    <c:v>Random Forest (t)</c:v>
                  </c:pt>
                  <c:pt idx="6">
                    <c:v>Gradient Boosting (t)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-0.002</c:v>
                </c:pt>
                <c:pt idx="2">
                  <c:v>-0.005</c:v>
                </c:pt>
                <c:pt idx="3">
                  <c:v>-0.001</c:v>
                </c:pt>
                <c:pt idx="4">
                  <c:v>-0.003</c:v>
                </c:pt>
                <c:pt idx="5">
                  <c:v>0.001</c:v>
                </c:pt>
                <c:pt idx="6">
                  <c:v>0.001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2D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1"/>
          <c:min val="-0.01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2D2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D2D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D2D2D"/>
                </a:solidFill>
                <a:latin typeface="Calibri"/>
              </a:rPr>
              <a:t>Test ROC-AUC (0.50 = random)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  <c:pt idx="4">
                    <c:v>Decision Tree (t)</c:v>
                  </c:pt>
                  <c:pt idx="5">
                    <c:v>Gradient Boosting (t)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0.525</c:v>
                </c:pt>
                <c:pt idx="1">
                  <c:v>0.515</c:v>
                </c:pt>
                <c:pt idx="2">
                  <c:v>0.514</c:v>
                </c:pt>
                <c:pt idx="3">
                  <c:v>0.513</c:v>
                </c:pt>
                <c:pt idx="4">
                  <c:v>0.527</c:v>
                </c:pt>
                <c:pt idx="5">
                  <c:v>0.53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2D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4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2D2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readout reports what the data supports, including where it supports nothing. The honest finding is as important as the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33.9% = 22.3% cancelled + 11.5% Food Not Delivered. Late = Delivered Late / completed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 and traffic dates are sampled with repeats: only ~63% of orders link to them. This limits any weather/traffic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was by 5-fold CV R2. All CV R2 values are slightly negative or ~0. Feature importances are at the noise floor and should not be presented as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.pbix itself must be assembled in Power BI Desktop from the kit; it cannot be generated outside Power BI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Zomato Business Intelligence &amp; Delivery Time Prediction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24 months of order data can and cannot tell us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readout  |  Sundram Sharma  |  Data Science Internship capstone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order failure; nothing we measured explains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33.9%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64638"/>
            <a:ext cx="228600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never reach the customer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72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64638"/>
            <a:ext cx="228600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completed deliveries are late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72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64638"/>
            <a:ext cx="228600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delivery-time and churn models fail to beat a naive baseline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23 hypothesis tests reached p&lt;0.05 (about 1.2 expected by chance).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do not deploy the models; fix instrumentation first and act on three model-free items.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data to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pipeline, validated at each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SQL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tables, keys, 26 queries + 2 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1737360"/>
            <a:ext cx="548640" cy="548640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logged fixes, 31/31 checks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1737360"/>
            <a:ext cx="548640" cy="548640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EDA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features, 38 charts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1737360"/>
            <a:ext cx="548640" cy="548640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permutation tests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548640" cy="548640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regressors, 4 classifiers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1737360"/>
            <a:ext cx="548640" cy="548640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kit, insights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applied throughout: test a pattern before reporting it, and choose models by cross-validation, never by the test set.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were tested on the data, not assumed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5086"/>
            <a:ext cx="374904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negative-cost orders recovered: |cost| reproduces FinalAmount exactly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572768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285086"/>
            <a:ext cx="374904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orders removed (plus 180 customers, 115 feedback rows)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172968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885286"/>
            <a:ext cx="374904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orphan-key orders dropped (13 restaurants, 12 customers)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172968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885286"/>
            <a:ext cx="374904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slash dates are ambiguous (DD/MM vs MM/DD): resolved via payment date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structured by hour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and dinner peaks; weekends are not busier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6459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12-13h and 19-20h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share 28.3% (28.6% if flat)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the PeakHour feature and for staffing windows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three orders fails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and not-delivered orders are the largest controllable loss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6459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 cancelled, 11.5% not delivered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 of completed orders late (63.7 min vs 33.5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80% of failed orders show payment 'Success'; only ~8% 'Refunded'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reconciliation with Finance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not move the needle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tests, 2,000 shuffles each; p&lt;0.05 needed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9144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time vs traffic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time vs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vs weather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20.5-22.6%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vs cuisine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19.0-24.9%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vs 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20.9-23.8%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23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 vs membership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389-395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Fastest-partner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 partners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noise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differences in the charts are within random variation. Do not allocate resources on them.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Delivery-time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beats predicting the average (PRD target R² 0.75)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0" y="164592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15.1 min for every model (target ≤ 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rain, distance proxy, partner stats: correlation |r| &lt; 0.03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demo: adding the post-delivery late flag gives R² 0.538 - not usable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0.51-0.53: indistinguishable from a coin flip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0" y="164592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customers churn, so 'everyone churns' scores F1 0.93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model scores below that baseline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risk segments churn 85-88%: a 3-point spread, too small to target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modular, ready to re-run on better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12-table schema, 5 indexes, 26 queries, 2 views, procedure + trigger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clean, features, EDA, 2 model modules, report builder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charts, 5 notebooks, 2 PDF reports, 23 significance tests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CSVs, DAX measures, theme and 6-page build spec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 actions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Operations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failure reasons and stage timestamps; add GPS and customer coordinates before reallocating partners.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Partnerships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470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scorecard as a watch-list: bottom decile 3 months running with 30+ orders. Median restaurant has 17 orders.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Marketing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387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randomised coupon holdout; 35% of orders use coupons at ~28% off. Use 'no order in 60 days' instead of the churn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5387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payments: 5,440 failed orders show payment Success (INR 21.3 lakh). Plan on flat revenue: ~INR 2.2 lakh per month.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BI Capstone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behaves like a simulated snapshot: expected relationships (lateness vs ratings, RFM vs churn) are absent.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Weather/traffic link to ~63% of orders; no customer coordinates, so no true distance.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capture failure reasons, timestamps, GPS; re-run the pipeline and require held-out R² well above 0 before any deployment.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metrics: 95% of failures with a reason code; failure rate down from 33.9%; coupon test shows incremental orders.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BI &amp; Delivery Time Prediction - Stakeholder Readout</dc:title>
  <dc:subject>PptxGenJS Presentation</dc:subject>
  <dc:creator>Sundram Sharma</dc:creator>
  <cp:lastModifiedBy>Sundram Sharma</cp:lastModifiedBy>
  <cp:revision>1</cp:revision>
  <dcterms:created xsi:type="dcterms:W3CDTF">2026-10-04T08:19:14Z</dcterms:created>
  <dcterms:modified xsi:type="dcterms:W3CDTF">2026-10-04T08:19:14Z</dcterms:modified>
</cp:coreProperties>
</file>